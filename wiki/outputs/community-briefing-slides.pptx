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Barium (mg/kg)</c:v>
                </c:pt>
              </c:strCache>
            </c:strRef>
          </c:tx>
          <c:dPt>
            <c:idx val="0"/>
            <c:spPr>
              <a:solidFill>
                <a:srgbClr val="2E86C1"/>
              </a:solidFill>
            </c:spPr>
          </c:dPt>
          <c:dPt>
            <c:idx val="1"/>
            <c:spPr>
              <a:solidFill>
                <a:srgbClr val="D68910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dPt>
            <c:idx val="3"/>
            <c:spPr>
              <a:solidFill>
                <a:srgbClr val="898781"/>
              </a:solidFill>
            </c:spPr>
          </c:dPt>
          <c:dPt>
            <c:idx val="4"/>
            <c:spPr>
              <a:solidFill>
                <a:srgbClr val="5D6D7E"/>
              </a:solidFill>
            </c:spPr>
          </c:dPt>
          <c:cat>
            <c:strRef>
              <c:f>Sheet1!$A$2:$A$6</c:f>
              <c:strCache>
                <c:ptCount val="5"/>
                <c:pt idx="0">
                  <c:v>Stockpile 1</c:v>
                </c:pt>
                <c:pt idx="1">
                  <c:v>Stockpile 2</c:v>
                </c:pt>
                <c:pt idx="2">
                  <c:v>Stockpile 3</c:v>
                </c:pt>
                <c:pt idx="3">
                  <c:v>Residential
limit</c:v>
                </c:pt>
                <c:pt idx="4">
                  <c:v>Industrial
limit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</c:v>
                </c:pt>
                <c:pt idx="1">
                  <c:v>64000</c:v>
                </c:pt>
                <c:pt idx="2">
                  <c:v>72000</c:v>
                </c:pt>
                <c:pt idx="3">
                  <c:v>5200</c:v>
                </c:pt>
                <c:pt idx="4">
                  <c:v>63000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MW-5 (nearest stockpiles)</c:v>
                </c:pt>
              </c:strCache>
            </c:strRef>
          </c:tx>
          <c:spPr>
            <a:ln w="31750">
              <a:solidFill>
                <a:srgbClr val="0C447C"/>
              </a:solidFill>
            </a:ln>
          </c:spPr>
          <c:marker>
            <c:symbol val="circle"/>
            <c:size val="6"/>
          </c:marker>
          <c:cat>
            <c:strRef>
              <c:f>Sheet1!$A$2:$A$5</c:f>
              <c:strCache>
                <c:ptCount val="4"/>
                <c:pt idx="0">
                  <c:v>May 2012</c:v>
                </c:pt>
                <c:pt idx="1">
                  <c:v>Sep 2012</c:v>
                </c:pt>
                <c:pt idx="2">
                  <c:v>Nov 2012</c:v>
                </c:pt>
                <c:pt idx="3">
                  <c:v>Mar 2013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22</c:v>
                </c:pt>
                <c:pt idx="2">
                  <c:v>24</c:v>
                </c:pt>
                <c:pt idx="3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MW-1 (upgradient/background)</c:v>
                </c:pt>
              </c:strCache>
            </c:strRef>
          </c:tx>
          <c:spPr>
            <a:ln w="28575">
              <a:solidFill>
                <a:srgbClr val="85B7EB"/>
              </a:solidFill>
            </a:ln>
          </c:spPr>
          <c:marker>
            <c:symbol val="circle"/>
            <c:size val="6"/>
          </c:marker>
          <c:cat>
            <c:strRef>
              <c:f>Sheet1!$A$2:$A$5</c:f>
              <c:strCache>
                <c:ptCount val="4"/>
                <c:pt idx="0">
                  <c:v>May 2012</c:v>
                </c:pt>
                <c:pt idx="1">
                  <c:v>Sep 2012</c:v>
                </c:pt>
                <c:pt idx="2">
                  <c:v>Nov 2012</c:v>
                </c:pt>
                <c:pt idx="3">
                  <c:v>Mar 2013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Safety limit (MCL)</c:v>
                </c:pt>
              </c:strCache>
            </c:strRef>
          </c:tx>
          <c:spPr>
            <a:ln w="22225">
              <a:solidFill>
                <a:srgbClr val="898781"/>
              </a:solidFill>
            </a:ln>
          </c:spPr>
          <c:marker>
            <c:symbol val="circle"/>
            <c:size val="6"/>
          </c:marker>
          <c:cat>
            <c:strRef>
              <c:f>Sheet1!$A$2:$A$5</c:f>
              <c:strCache>
                <c:ptCount val="4"/>
                <c:pt idx="0">
                  <c:v>May 2012</c:v>
                </c:pt>
                <c:pt idx="1">
                  <c:v>Sep 2012</c:v>
                </c:pt>
                <c:pt idx="2">
                  <c:v>Nov 2012</c:v>
                </c:pt>
                <c:pt idx="3">
                  <c:v>Mar 2013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Much Contamination Is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5B7EB"/>
                </a:solidFill>
                <a:latin typeface="Arial"/>
              </a:rPr>
              <a:t>SR 132 Modesto Soil Stockpiles  ·  Stanislaus County, CA  ·  Site Code 900259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37160"/>
            <a:ext cx="1828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85B7EB"/>
                </a:solidFill>
                <a:latin typeface="Arial"/>
              </a:rPr>
              <a:t>COMMUNITY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3611880" cy="1170432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C447C"/>
                </a:solidFill>
                <a:latin typeface="Arial"/>
              </a:rPr>
              <a:t>72,000 mg/kg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Highest barium level ever found in soil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(Stockpile 3, 2006 investigation)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115568"/>
            <a:ext cx="3611880" cy="1170432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207008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C447C"/>
                </a:solidFill>
                <a:latin typeface="Arial"/>
              </a:rPr>
              <a:t>~14× over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737360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That peak is about 14 times the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residential safety threshold (5,200 mg/kg)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115568"/>
            <a:ext cx="3611880" cy="1170432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207008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C447C"/>
                </a:solidFill>
                <a:latin typeface="Arial"/>
              </a:rPr>
              <a:t>22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1737360"/>
            <a:ext cx="33375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of testing and regulatory oversight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36B"/>
                </a:solidFill>
                <a:latin typeface="Arial"/>
              </a:rPr>
              <a:t>by DTSC, 2004–2026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87168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3"/>
                </a:solidFill>
                <a:latin typeface="Arial"/>
              </a:rPr>
              <a:t>Maximum Barium Found (2006) vs. Safety Thresholds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852928"/>
          <a:ext cx="70408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6144768"/>
            <a:ext cx="7040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A636B"/>
                </a:solidFill>
                <a:latin typeface="Arial"/>
              </a:rPr>
              <a:t>Bars = actual soil test results. Gray bars = the health-based safety limits DTSC compares them 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487168"/>
            <a:ext cx="3913632" cy="3611880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5176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3"/>
                </a:solidFill>
                <a:latin typeface="Arial"/>
              </a:rPr>
              <a:t>What else was found?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127248"/>
            <a:ext cx="34747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447C"/>
                </a:solidFill>
                <a:latin typeface="Arial"/>
              </a:rPr>
              <a:t>● 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74136"/>
            <a:ext cx="32461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A636B"/>
                </a:solidFill>
                <a:latin typeface="Arial"/>
              </a:rPr>
              <a:t>Present at modest levels alongside barium; contained in the same capped area.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59935"/>
            <a:ext cx="34747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447C"/>
                </a:solidFill>
                <a:latin typeface="Arial"/>
              </a:rPr>
              <a:t>●  Chromium &amp; Cadmium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06823"/>
            <a:ext cx="32461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A636B"/>
                </a:solidFill>
                <a:latin typeface="Arial"/>
              </a:rPr>
              <a:t>Investigated closely — never confirmed as significant soil contaminants here.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992623"/>
            <a:ext cx="34747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447C"/>
                </a:solidFill>
                <a:latin typeface="Arial"/>
              </a:rPr>
              <a:t>●  Petroleum residue (TPH) &amp; PAHs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239511"/>
            <a:ext cx="32461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A636B"/>
                </a:solidFill>
                <a:latin typeface="Arial"/>
              </a:rPr>
              <a:t>One sample tested; results were below health-based limits.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B"/>
                </a:solidFill>
                <a:latin typeface="Arial"/>
              </a:rPr>
              <a:t>CHHSL = California Human Health Screening Level, the health-based soil standard set by DTSC to protect residents. Source: DTSC/Caltrans site record (Site Code 900259).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Is It Dangerous? Health Risks &amp; Is It Spreading?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5B7EB"/>
                </a:solidFill>
                <a:latin typeface="Arial"/>
              </a:rPr>
              <a:t>SR 132 Modesto Soil Stockpiles  ·  Stanislaus County, CA  ·  Site Code 900259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37160"/>
            <a:ext cx="1828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85B7EB"/>
                </a:solidFill>
                <a:latin typeface="Arial"/>
              </a:rPr>
              <a:t>COMMUNITY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822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22A33"/>
                </a:solidFill>
                <a:latin typeface="Arial"/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25295"/>
            <a:ext cx="2514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3"/>
                </a:solidFill>
                <a:latin typeface="Arial"/>
              </a:rPr>
              <a:t>Soil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57276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1E8F5B"/>
                </a:solidFill>
                <a:latin typeface="Arial"/>
              </a:rPr>
              <a:t>CONTAINED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46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36B"/>
                </a:solidFill>
                <a:latin typeface="Arial"/>
              </a:rPr>
              <a:t>Barium-containing soil is capped and fenced under a highway embankment, with a permanent deed restriction (2024) blocking future digging or residential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078992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188719"/>
            <a:ext cx="822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22A33"/>
                </a:solidFill>
                <a:latin typeface="Arial"/>
              </a:rPr>
              <a:t>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1225295"/>
            <a:ext cx="2514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3"/>
                </a:solidFill>
                <a:latin typeface="Arial"/>
              </a:rPr>
              <a:t>Groundwater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572768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1E8F5B"/>
                </a:solidFill>
                <a:latin typeface="Arial"/>
              </a:rPr>
              <a:t>NOT REACHING DRINKING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103120"/>
            <a:ext cx="3246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36B"/>
                </a:solidFill>
                <a:latin typeface="Arial"/>
              </a:rPr>
              <a:t>Monitored 2012–2023. Barium, lead, chromium, beryllium, and arsenic never exceeded safe drinking-water limits in any well, any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078992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188719"/>
            <a:ext cx="822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22A33"/>
                </a:solidFill>
                <a:latin typeface="Arial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1225295"/>
            <a:ext cx="2514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3"/>
                </a:solidFill>
                <a:latin typeface="Arial"/>
              </a:rPr>
              <a:t>Ongoing Oversight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1572768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D68910"/>
                </a:solidFill>
                <a:latin typeface="Arial"/>
              </a:rPr>
              <a:t>ACTIVELY MONITORED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103120"/>
            <a:ext cx="3246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36B"/>
                </a:solidFill>
                <a:latin typeface="Arial"/>
              </a:rPr>
              <a:t>DTSC requires five-year site reviews starting 2028. The deed restriction is permanent — it does not expire when monitoring 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5669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A33"/>
                </a:solidFill>
                <a:latin typeface="Arial"/>
              </a:rPr>
              <a:t>The One Real Exceedance: Nitrate in Groundwater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3401568"/>
          <a:ext cx="566928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559552"/>
            <a:ext cx="56692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6B"/>
                </a:solidFill>
                <a:latin typeface="Arial"/>
              </a:rPr>
              <a:t>Both wells stay above the limit — even MW-1, upgradient of the stockpiles — pointing to regional farm-fertilizer background, not this site. This groundwater is not a drinking source.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A33"/>
                </a:solidFill>
                <a:latin typeface="Arial"/>
              </a:rPr>
              <a:t>Health Impacts at a Glance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0" y="3401568"/>
          <a:ext cx="5349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  <a:gridCol w="160020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Substance</a:t>
                      </a:r>
                    </a:p>
                  </a:txBody>
                  <a:tcPr marT="27432" marB="27432">
                    <a:solidFill>
                      <a:srgbClr val="0C44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Main health concern</a:t>
                      </a:r>
                    </a:p>
                  </a:txBody>
                  <a:tcPr marT="27432" marB="27432">
                    <a:solidFill>
                      <a:srgbClr val="0C44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Unsafe here?</a:t>
                      </a:r>
                    </a:p>
                  </a:txBody>
                  <a:tcPr marT="27432" marB="27432">
                    <a:solidFill>
                      <a:srgbClr val="0C447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A33"/>
                          </a:solidFill>
                          <a:latin typeface="Arial"/>
                        </a:rPr>
                        <a:t>Barium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3"/>
                          </a:solidFill>
                          <a:latin typeface="Arial"/>
                        </a:rPr>
                        <a:t>Heart rhythm &amp; blood pressure at high exposure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F5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A33"/>
                          </a:solidFill>
                          <a:latin typeface="Arial"/>
                        </a:rPr>
                        <a:t>Lead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3"/>
                          </a:solidFill>
                          <a:latin typeface="Arial"/>
                        </a:rPr>
                        <a:t>No safe exposure level, especially for children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F5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A33"/>
                          </a:solidFill>
                          <a:latin typeface="Arial"/>
                        </a:rPr>
                        <a:t>Nitrate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3"/>
                          </a:solidFill>
                          <a:latin typeface="Arial"/>
                        </a:rPr>
                        <a:t>“Blue baby syndrome” in infants under 6 months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68910"/>
                          </a:solidFill>
                          <a:latin typeface="Arial"/>
                        </a:rPr>
                        <a:t>GW only¹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A33"/>
                          </a:solidFill>
                          <a:latin typeface="Arial"/>
                        </a:rPr>
                        <a:t>Chromium /
Cadmium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3"/>
                          </a:solidFill>
                          <a:latin typeface="Arial"/>
                        </a:rPr>
                        <a:t>Cancer risk at high exposure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F5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400800" y="5797296"/>
            <a:ext cx="53492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B"/>
                </a:solidFill>
                <a:latin typeface="Arial"/>
              </a:rPr>
              <a:t>¹ Nitrate exceeds the limit in groundwater, which is not used as a drinking source at this site.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108192"/>
            <a:ext cx="11274552" cy="402336"/>
          </a:xfrm>
          <a:prstGeom prst="roundRect">
            <a:avLst>
              <a:gd name="adj" fmla="val 6000"/>
            </a:avLst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21908"/>
            <a:ext cx="108813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Bottom line: DTSC's official risk assessments found health risks at this site far below the level of regulatory concern — largely because the contamination is contained, monitored, and not reaching drinking water.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